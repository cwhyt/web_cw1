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7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ShelfSense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XJCO3011 • Web Services and Web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 err="1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ShelfSense</a:t>
            </a:r>
            <a:r>
              <a:rPr lang="en-US" altLang="zh-CN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API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18745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ShelfSense API • XJCO3011 Web Services and Web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4937760" cy="0"/>
          </a:xfrm>
          <a:prstGeom prst="line">
            <a:avLst/>
          </a:prstGeom>
          <a:noFill/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540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 </a:t>
            </a:r>
            <a:r>
              <a:rPr lang="en-US" altLang="zh-CN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Yantong Chen </a:t>
            </a:r>
            <a:r>
              <a:rPr lang="en-US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 201690988 ]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[April  2026]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35A6C99-1C7D-E694-2F05-D50DC5724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12" y="4041648"/>
            <a:ext cx="3384586" cy="3384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&amp; Features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RESTful backend service for book discovery, reading management, and lightweight recommendation.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166360" cy="3108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Open Library metadata with local SQL-backed user data.</a:t>
            </a:r>
          </a:p>
          <a:p>
            <a:pPr marL="177800" indent="-177800">
              <a:buSzPct val="100000"/>
              <a:buChar char="•"/>
            </a:pP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areas: authentication, reading lists, reviews, analytics, and recommendations.</a:t>
            </a:r>
          </a:p>
          <a:p>
            <a:pPr marL="177800" indent="-177800">
              <a:buSzPct val="100000"/>
              <a:buChar char="•"/>
            </a:pP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Implements structured HTTP endpoints with JSON request/response handling.</a:t>
            </a:r>
          </a:p>
          <a:p>
            <a:pPr marL="177800" indent="-177800">
              <a:buSzPct val="100000"/>
              <a:buChar char="•"/>
            </a:pP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as an individual coursework API project rather than a frontend application.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DCE8F5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76402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470916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DCE8F5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901952" y="476402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47091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DCE8F5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999232" y="476402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Library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470916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DCE8F5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476402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11112" y="1581912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 visual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5890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overall system screenshot or API docs overview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145A5A6-93B7-729E-C413-700B82459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788" y="2580075"/>
            <a:ext cx="4769800" cy="254985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CBBD332-8183-EB8B-4AFC-79FF61281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history shows staged progress from planning to documentation.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892040" cy="2423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GitHub repository maintained throughout development.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moved through planning, CRUD implementation, external integration, testing, and documentation.</a:t>
            </a:r>
          </a:p>
          <a:p>
            <a:pPr>
              <a:buSzPct val="100000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history provides evidence of iterative development rather than one-stage upload.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716720"/>
            <a:ext cx="4892040" cy="270236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04328" y="3763487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link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4328" y="4019519"/>
            <a:ext cx="4562856" cy="28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https://github.com/CwhyT/web_cw1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C97DCC-8FC7-1A61-1B14-887F98302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856" y="698902"/>
            <a:ext cx="2613708" cy="56008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EB360E0-8C0B-B388-1048-33317D6D2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90" y="4269649"/>
            <a:ext cx="4130724" cy="20126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F8D6C1-14A7-887D-DBED-78188E256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and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API structure chosen for clarity, maintainability, and coursework scope.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103120" cy="2971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77824" y="15636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1773936" cy="2157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+ SQLite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httpx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035808" y="1417320"/>
            <a:ext cx="2697480" cy="297180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200400" y="1563624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325756"/>
            <a:ext cx="2368296" cy="19353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</a:t>
            </a: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preferred over </a:t>
            </a:r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GraphQL</a:t>
            </a:r>
            <a:endParaRPr lang="en-US" sz="1100" b="1" dirty="0">
              <a:solidFill>
                <a:schemeClr val="bg2">
                  <a:lumMod val="10000"/>
                </a:schemeClr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4B556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system is resource-oriented, CRUD-heavy, and easier to validate, document, and test.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572000"/>
            <a:ext cx="2560320" cy="13716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7824" y="471830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974335"/>
            <a:ext cx="2231136" cy="8831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58191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1AF3A74-5248-6A51-2CB3-58F1FA48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474" y="2420730"/>
            <a:ext cx="4088652" cy="28259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240380F-E239-171E-7C59-DA9C3425C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structure supports authenticated CRUD, cached books, and lightweight analytics.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983480" cy="2743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SQL tables: </a:t>
            </a:r>
            <a:r>
              <a:rPr lang="en-US" sz="1600" b="1" u="sng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b="1" u="sng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books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b="1" u="sng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reading_lists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b="1" u="sng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reading_list_items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</a:t>
            </a:r>
            <a:r>
              <a:rPr lang="en-US" sz="1600" b="1" u="sng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>
              <a:buSzPct val="100000"/>
            </a:pPr>
            <a:endParaRPr lang="en-US" sz="16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77800" indent="-177800">
              <a:buSzPct val="100000"/>
              <a:buFontTx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Books are cached locally 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</a:t>
            </a: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when users add them to a reading list.</a:t>
            </a:r>
          </a:p>
          <a:p>
            <a:pPr>
              <a:buSzPct val="100000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recommendations operate on 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relational data rather than live external search results.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4389120"/>
            <a:ext cx="49834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7824" y="453542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relationships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4791456"/>
            <a:ext cx="46542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user → many reading lists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list → many list items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user → many reviews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book → many reviews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6266688" y="2220686"/>
            <a:ext cx="5212080" cy="2238103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31280" y="235915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 diagram / schema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2C5FF1-33D5-3D3E-F4F9-F8D5DB76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33" y="2788920"/>
            <a:ext cx="5144589" cy="15275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CA919DF-67E7-C63A-240C-CFC4F1A0D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API Functionality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endpoint groups cover discovery, user-owned state, and analytical features.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3317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77824" y="156362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endpoints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" y="1819656"/>
            <a:ext cx="20025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/api/books/search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/api/books/{openlibrary_key}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3154680"/>
            <a:ext cx="23317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77824" y="33009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CRUD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3557016"/>
            <a:ext cx="2002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/api/auth/me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/api/lists/...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/api/reviews/...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5074920"/>
            <a:ext cx="2331720" cy="134416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7824" y="522122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endpoints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5477256"/>
            <a:ext cx="20025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/api/analytics/genres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/api/analytics/user/{user_id}/preferences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/api/analytics/recommendations/user/{user_id}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240280" cy="3474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Library provides live book search and detail retrieval.</a:t>
            </a:r>
          </a:p>
          <a:p>
            <a:pPr marL="177800" indent="-177800">
              <a:buSzPct val="100000"/>
              <a:buChar char="•"/>
            </a:pP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list items also trigger local book caching for later review and analytics.</a:t>
            </a:r>
          </a:p>
          <a:p>
            <a:pPr marL="177800" indent="-177800">
              <a:buSzPct val="100000"/>
              <a:buChar char="•"/>
            </a:pP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are rule-based and derived from saved books plus highly rated reviews.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80760" y="1165860"/>
            <a:ext cx="5212080" cy="4923514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45352" y="1252595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or Swagger screenshot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5890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API docs page, endpoint examples, or Postman output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9D58DC2-AD58-603A-7B0D-D8D41C4B6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85767"/>
            <a:ext cx="4882896" cy="453098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F8EE9E4-FB61-A1E8-E8F9-0E634AD34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/ Validation / Error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and input validation make the API more realistic than an open CRUD prototype.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5120640" cy="2971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 token authentication is issued through the login endpoint.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checks prevent modification of another user’s reading lists or reviews.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 validation messages improve readability during testing and demonstration.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status codes are used consistently across endpoints.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4823460"/>
            <a:ext cx="23317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7824" y="485195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5107984"/>
            <a:ext cx="20025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 Unauthorized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403 Forbidden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Not Found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409 Conflict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Unprocessable Entity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4357116"/>
            <a:ext cx="2606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92424" y="4563055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messages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92424" y="4819087"/>
            <a:ext cx="22768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email format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must be between 1 and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841248"/>
            <a:ext cx="5212080" cy="5102352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91440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/ error response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A4720CC-69BF-CB86-FB51-6C72B8A2A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896" y="1269608"/>
            <a:ext cx="5157807" cy="169076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811C067-B949-64BA-63FA-6B5E0D1B6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896" y="2987904"/>
            <a:ext cx="5157807" cy="136921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7FDE8C8-6E03-193C-D5D9-709D6F862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5107984"/>
            <a:ext cx="5120640" cy="729496"/>
          </a:xfrm>
          <a:prstGeom prst="rect">
            <a:avLst/>
          </a:prstGeom>
        </p:spPr>
      </p:pic>
      <p:sp>
        <p:nvSpPr>
          <p:cNvPr id="20" name="箭头: 下 19">
            <a:extLst>
              <a:ext uri="{FF2B5EF4-FFF2-40B4-BE49-F238E27FC236}">
                <a16:creationId xmlns:a16="http://schemas.microsoft.com/office/drawing/2014/main" id="{DAC49F02-1C26-8E9F-0963-23733EB0499D}"/>
              </a:ext>
            </a:extLst>
          </p:cNvPr>
          <p:cNvSpPr/>
          <p:nvPr/>
        </p:nvSpPr>
        <p:spPr>
          <a:xfrm>
            <a:off x="8542238" y="4434168"/>
            <a:ext cx="327442" cy="62307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84F7BC2-EB0C-2D1A-0DA3-9CB4C02D3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8099" y="-64102"/>
            <a:ext cx="1206137" cy="12061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were used to verify core behaviour and permission-sensitive paths.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44752"/>
            <a:ext cx="1920240" cy="822960"/>
          </a:xfrm>
          <a:prstGeom prst="roundRect">
            <a:avLst>
              <a:gd name="adj" fmla="val 6667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70992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passed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606040"/>
            <a:ext cx="5074920" cy="2331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and FastAPI TestClient used for automated verification.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Open Library calls were mocked to remove network dependence.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includes authentication, permissions, reviews, analytics, validation, and /health.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1539438"/>
            <a:ext cx="5212080" cy="3798916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245352" y="168642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AAB79D-7503-F925-7A22-78D168AD0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6838502-1EE9-BDF1-0EED-0E4F161C0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421" y="2204270"/>
            <a:ext cx="5082758" cy="2898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Usage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a declared, supportive, and reviewed manner throughout development.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5029200" cy="2880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used: 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</a:t>
            </a: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</a:t>
            </a: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roles: brief interpretation, planning, debugging support, and documentation refinement.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were checked manually against the coursework brief, repository state, and local test results.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implementation and validation remained the student’s responsibility.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4572000"/>
            <a:ext cx="5029200" cy="144475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080760" y="931817"/>
            <a:ext cx="5212080" cy="5181600"/>
          </a:xfrm>
          <a:prstGeom prst="roundRect">
            <a:avLst>
              <a:gd name="adj" fmla="val 1212"/>
            </a:avLst>
          </a:prstGeom>
          <a:solidFill>
            <a:srgbClr val="FAFBFD"/>
          </a:solidFill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245352" y="112928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evidence placeholder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650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B6ED4F-3DCB-8118-ACD5-5164001E7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139" y="78010"/>
            <a:ext cx="1206137" cy="12061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BC17E57-B484-1117-270E-A7B4E809A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201" y="4617720"/>
            <a:ext cx="3311261" cy="126000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B8BFE1F-6F80-0391-E269-F204BB451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825" y="1417320"/>
            <a:ext cx="364395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Coursework-scale backend project that meets the core API requirements and extends them with analysis features.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6766560" cy="228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ShelfSense API demonstrates </a:t>
            </a: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SQL-backed CRUD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API integration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</a:t>
            </a: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77800" indent="-177800">
              <a:buSzPct val="100000"/>
              <a:buChar char="•"/>
            </a:pP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remains coursework-focused: local execution, SQLite, and rule-based recommendations.</a:t>
            </a:r>
          </a:p>
          <a:p>
            <a:pPr marL="177800" indent="-177800">
              <a:buSzPct val="100000"/>
              <a:buChar char="•"/>
            </a:pP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Despite these limits, the implemented system satisfies the core technical expectations of the brief.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251960"/>
            <a:ext cx="3017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05840" y="439826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talking points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4654296"/>
            <a:ext cx="26883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technical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behaviour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submission package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7" y="6429539"/>
            <a:ext cx="308283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BAC55D-75B9-E4BE-71A1-39163644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389" y="4650377"/>
            <a:ext cx="2307771" cy="2307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r>
              <a:rPr lang="zh-CN" alt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2148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96112" y="2743200"/>
            <a:ext cx="4114800" cy="0"/>
          </a:xfrm>
          <a:prstGeom prst="line">
            <a:avLst/>
          </a:prstGeom>
          <a:noFill/>
          <a:ln w="12700">
            <a:solidFill>
              <a:srgbClr val="7EA6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3547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ShelfSense API • XJCO3011 Web Services and Web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31699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E7F575-1369-7852-1D52-6E661FAD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389" y="4650377"/>
            <a:ext cx="2307771" cy="230777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52E6EE75-E02B-27C0-DC99-11640AEA48F3}"/>
              </a:ext>
            </a:extLst>
          </p:cNvPr>
          <p:cNvSpPr/>
          <p:nvPr/>
        </p:nvSpPr>
        <p:spPr>
          <a:xfrm>
            <a:off x="914400" y="30540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 </a:t>
            </a:r>
            <a:r>
              <a:rPr lang="en-US" altLang="zh-CN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Yantong Chen </a:t>
            </a:r>
            <a:r>
              <a:rPr lang="en-US" sz="18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 201690988 ]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790</Words>
  <Application>Microsoft Office PowerPoint</Application>
  <PresentationFormat>宽屏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ShelfSense API Presentation</dc:title>
  <dc:subject>ShelfSense API coursework presentation</dc:subject>
  <dc:creator>OpenAI</dc:creator>
  <cp:lastModifiedBy>Yantong Chen [sc223yc]</cp:lastModifiedBy>
  <cp:revision>23</cp:revision>
  <dcterms:created xsi:type="dcterms:W3CDTF">2026-04-21T02:50:00Z</dcterms:created>
  <dcterms:modified xsi:type="dcterms:W3CDTF">2026-04-21T10:37:02Z</dcterms:modified>
</cp:coreProperties>
</file>